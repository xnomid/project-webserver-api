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handoutMasterIdLst>
    <p:handoutMasterId r:id="rId12"/>
  </p:handoutMasterIdLst>
  <p:sldIdLst>
    <p:sldId id="272" r:id="rId2"/>
    <p:sldId id="273" r:id="rId3"/>
    <p:sldId id="274" r:id="rId4"/>
    <p:sldId id="275" r:id="rId5"/>
    <p:sldId id="276" r:id="rId6"/>
    <p:sldId id="277" r:id="rId7"/>
    <p:sldId id="280" r:id="rId8"/>
    <p:sldId id="279" r:id="rId9"/>
    <p:sldId id="278" r:id="rId1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0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20C13-2514-4D9C-8D4B-A10DA4FFD5A1}" type="datetime1">
              <a:rPr lang="ru-RU" smtClean="0"/>
              <a:t>02.05.2026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CC122-5347-4C75-98DE-0F72C4F255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60612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67CA5-ECF1-43FF-A31E-6BD9B21B57BB}" type="datetime1">
              <a:rPr lang="ru-RU" smtClean="0"/>
              <a:pPr/>
              <a:t>02.05.2026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93B0CF2-7F87-4E02-A248-870047730F99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3625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9580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9726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8784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176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2398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00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Прямая соединительная линия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ru-RU" noProof="0"/>
              <a:t>Образец подзаголовка</a:t>
            </a:r>
            <a:endParaRPr kumimoji="0" lang="ru-RU" noProof="0" dirty="0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042E67-0227-4BC3-82B0-5759BC2EE067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ru-RU" noProof="0"/>
              <a:t>Образец текста</a:t>
            </a:r>
          </a:p>
          <a:p>
            <a:pPr lvl="1" rtl="0" eaLnBrk="1" latinLnBrk="0" hangingPunct="1"/>
            <a:r>
              <a:rPr lang="ru-RU" noProof="0"/>
              <a:t>Второй уровень</a:t>
            </a:r>
          </a:p>
          <a:p>
            <a:pPr lvl="2" rtl="0" eaLnBrk="1" latinLnBrk="0" hangingPunct="1"/>
            <a:r>
              <a:rPr lang="ru-RU" noProof="0"/>
              <a:t>Третий уровень</a:t>
            </a:r>
          </a:p>
          <a:p>
            <a:pPr lvl="3" rtl="0" eaLnBrk="1" latinLnBrk="0" hangingPunct="1"/>
            <a:r>
              <a:rPr lang="ru-RU" noProof="0"/>
              <a:t>Четвертый уровень</a:t>
            </a:r>
          </a:p>
          <a:p>
            <a:pPr lvl="4" rtl="0" eaLnBrk="1" latinLnBrk="0" hangingPunct="1"/>
            <a:r>
              <a:rPr lang="ru-RU" noProof="0"/>
              <a:t>Пятый уровень</a:t>
            </a:r>
            <a:endParaRPr kumimoji="0"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DEFBE7-4C1B-4778-8B46-649E4193A0B2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CCFD91-7790-4468-A129-07AFFDDBA1C7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  <a:p>
            <a:pPr lvl="1" rtl="0" eaLnBrk="1" latinLnBrk="0" hangingPunct="1"/>
            <a:r>
              <a:rPr lang="ru-RU" noProof="0"/>
              <a:t>Второй уровень</a:t>
            </a:r>
          </a:p>
          <a:p>
            <a:pPr lvl="2" rtl="0" eaLnBrk="1" latinLnBrk="0" hangingPunct="1"/>
            <a:r>
              <a:rPr lang="ru-RU" noProof="0"/>
              <a:t>Третий уровень</a:t>
            </a:r>
          </a:p>
          <a:p>
            <a:pPr lvl="3" rtl="0" eaLnBrk="1" latinLnBrk="0" hangingPunct="1"/>
            <a:r>
              <a:rPr lang="ru-RU" noProof="0"/>
              <a:t>Четвертый уровень</a:t>
            </a:r>
          </a:p>
          <a:p>
            <a:pPr lvl="4" rtl="0" eaLnBrk="1" latinLnBrk="0" hangingPunct="1"/>
            <a:r>
              <a:rPr lang="ru-RU" noProof="0"/>
              <a:t>Пятый уровень</a:t>
            </a:r>
            <a:endParaRPr kumimoji="0"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  <a:p>
            <a:pPr lvl="1" rtl="0" eaLnBrk="1" latinLnBrk="0" hangingPunct="1"/>
            <a:r>
              <a:rPr lang="ru-RU" noProof="0"/>
              <a:t>Второй уровень</a:t>
            </a:r>
          </a:p>
          <a:p>
            <a:pPr lvl="2" rtl="0" eaLnBrk="1" latinLnBrk="0" hangingPunct="1"/>
            <a:r>
              <a:rPr lang="ru-RU" noProof="0"/>
              <a:t>Третий уровень</a:t>
            </a:r>
          </a:p>
          <a:p>
            <a:pPr lvl="3" rtl="0" eaLnBrk="1" latinLnBrk="0" hangingPunct="1"/>
            <a:r>
              <a:rPr lang="ru-RU" noProof="0"/>
              <a:t>Четвертый уровень</a:t>
            </a:r>
          </a:p>
          <a:p>
            <a:pPr lvl="4" rtl="0" eaLnBrk="1" latinLnBrk="0" hangingPunct="1"/>
            <a:r>
              <a:rPr lang="ru-RU" noProof="0"/>
              <a:t>Пятый уровень</a:t>
            </a:r>
            <a:endParaRPr kumimoji="0"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E41293-93E0-46D4-A151-C6BFE1D839E4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  <a:p>
            <a:pPr lvl="1" rtl="0" eaLnBrk="1" latinLnBrk="0" hangingPunct="1"/>
            <a:r>
              <a:rPr lang="ru-RU" noProof="0"/>
              <a:t>Второй уровень</a:t>
            </a:r>
          </a:p>
          <a:p>
            <a:pPr lvl="2" rtl="0" eaLnBrk="1" latinLnBrk="0" hangingPunct="1"/>
            <a:r>
              <a:rPr lang="ru-RU" noProof="0"/>
              <a:t>Третий уровень</a:t>
            </a:r>
          </a:p>
          <a:p>
            <a:pPr lvl="3" rtl="0" eaLnBrk="1" latinLnBrk="0" hangingPunct="1"/>
            <a:r>
              <a:rPr lang="ru-RU" noProof="0"/>
              <a:t>Четвертый уровень</a:t>
            </a:r>
          </a:p>
          <a:p>
            <a:pPr lvl="4" rtl="0" eaLnBrk="1" latinLnBrk="0" hangingPunct="1"/>
            <a:r>
              <a:rPr lang="ru-RU" noProof="0"/>
              <a:t>Пятый уровень</a:t>
            </a:r>
            <a:endParaRPr kumimoji="0"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  <a:p>
            <a:pPr lvl="1" rtl="0" eaLnBrk="1" latinLnBrk="0" hangingPunct="1"/>
            <a:r>
              <a:rPr lang="ru-RU" noProof="0"/>
              <a:t>Второй уровень</a:t>
            </a:r>
          </a:p>
          <a:p>
            <a:pPr lvl="2" rtl="0" eaLnBrk="1" latinLnBrk="0" hangingPunct="1"/>
            <a:r>
              <a:rPr lang="ru-RU" noProof="0"/>
              <a:t>Третий уровень</a:t>
            </a:r>
          </a:p>
          <a:p>
            <a:pPr lvl="3" rtl="0" eaLnBrk="1" latinLnBrk="0" hangingPunct="1"/>
            <a:r>
              <a:rPr lang="ru-RU" noProof="0"/>
              <a:t>Четвертый уровень</a:t>
            </a:r>
          </a:p>
          <a:p>
            <a:pPr lvl="4" rtl="0" eaLnBrk="1" latinLnBrk="0" hangingPunct="1"/>
            <a:r>
              <a:rPr lang="ru-RU" noProof="0"/>
              <a:t>Пятый уровень</a:t>
            </a:r>
            <a:endParaRPr kumimoji="0"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791C00-DC62-4142-9F6D-DA1C45AB977D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395BA2-92C5-4296-B336-F8334E18CE48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DBA5C4-3A0B-44F2-A553-77BCC15D81C0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  <a:p>
            <a:pPr lvl="1" rtl="0" eaLnBrk="1" latinLnBrk="0" hangingPunct="1"/>
            <a:r>
              <a:rPr lang="ru-RU" noProof="0"/>
              <a:t>Второй уровень</a:t>
            </a:r>
          </a:p>
          <a:p>
            <a:pPr lvl="2" rtl="0" eaLnBrk="1" latinLnBrk="0" hangingPunct="1"/>
            <a:r>
              <a:rPr lang="ru-RU" noProof="0"/>
              <a:t>Третий уровень</a:t>
            </a:r>
          </a:p>
          <a:p>
            <a:pPr lvl="3" rtl="0" eaLnBrk="1" latinLnBrk="0" hangingPunct="1"/>
            <a:r>
              <a:rPr lang="ru-RU" noProof="0"/>
              <a:t>Четвертый уровень</a:t>
            </a:r>
          </a:p>
          <a:p>
            <a:pPr lvl="4" rtl="0" eaLnBrk="1" latinLnBrk="0" hangingPunct="1"/>
            <a:r>
              <a:rPr lang="ru-RU" noProof="0"/>
              <a:t>Пятый уровень</a:t>
            </a:r>
            <a:endParaRPr kumimoji="0"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601DC2-C9FF-4CCB-9CA8-59247185429A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о скругленным и усеченным углом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ru-RU" sz="1800" noProof="0" dirty="0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ru-RU" sz="180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ru-RU" noProof="0"/>
              <a:t>Вставка рисунка</a:t>
            </a:r>
            <a:endParaRPr kumimoji="0"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00A0FC-F56C-4772-9C86-2C39F56A45E8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ru-RU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ru-RU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ru-RU" noProof="0"/>
              <a:t>Образец текста</a:t>
            </a:r>
          </a:p>
          <a:p>
            <a:pPr lvl="1" rtl="0" eaLnBrk="1" latinLnBrk="0" hangingPunct="1"/>
            <a:r>
              <a:rPr lang="ru-RU" noProof="0"/>
              <a:t>Второй уровень</a:t>
            </a:r>
          </a:p>
          <a:p>
            <a:pPr lvl="2" rtl="0" eaLnBrk="1" latinLnBrk="0" hangingPunct="1"/>
            <a:r>
              <a:rPr lang="ru-RU" noProof="0"/>
              <a:t>Третий уровень</a:t>
            </a:r>
          </a:p>
          <a:p>
            <a:pPr lvl="3" rtl="0" eaLnBrk="1" latinLnBrk="0" hangingPunct="1"/>
            <a:r>
              <a:rPr lang="ru-RU" noProof="0"/>
              <a:t>Четвертый уровень</a:t>
            </a:r>
          </a:p>
          <a:p>
            <a:pPr lvl="4" rtl="0" eaLnBrk="1" latinLnBrk="0" hangingPunct="1"/>
            <a:r>
              <a:rPr lang="ru-RU" noProof="0"/>
              <a:t>Пятый уровень</a:t>
            </a:r>
            <a:endParaRPr kumimoji="0"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DCC9AE-B7F3-45CB-BB2E-3222B2AEBBC3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  <a:endParaRPr kumimoji="0"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ru-RU" noProof="0"/>
              <a:t>Образец текста</a:t>
            </a:r>
          </a:p>
          <a:p>
            <a:pPr lvl="1" rtl="0" eaLnBrk="1" latinLnBrk="0" hangingPunct="1"/>
            <a:r>
              <a:rPr lang="ru-RU" noProof="0"/>
              <a:t>Второй уровень</a:t>
            </a:r>
          </a:p>
          <a:p>
            <a:pPr lvl="2" rtl="0" eaLnBrk="1" latinLnBrk="0" hangingPunct="1"/>
            <a:r>
              <a:rPr lang="ru-RU" noProof="0"/>
              <a:t>Третий уровень</a:t>
            </a:r>
          </a:p>
          <a:p>
            <a:pPr lvl="3" rtl="0" eaLnBrk="1" latinLnBrk="0" hangingPunct="1"/>
            <a:r>
              <a:rPr lang="ru-RU" noProof="0"/>
              <a:t>Четвертый уровень</a:t>
            </a:r>
          </a:p>
          <a:p>
            <a:pPr lvl="4" rtl="0" eaLnBrk="1" latinLnBrk="0" hangingPunct="1"/>
            <a:r>
              <a:rPr lang="ru-RU" noProof="0"/>
              <a:t>Пятый уровень</a:t>
            </a:r>
            <a:endParaRPr kumimoji="0"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E58623-7ACF-43A9-B9A8-787CA2B0B620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Группа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Прямоугольник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grpSp>
          <p:nvGrpSpPr>
            <p:cNvPr id="27" name="Группа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Полилиния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ru-RU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ru-RU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Группа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Полилиния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ru-RU" sz="1800" noProof="0" dirty="0"/>
                </a:p>
              </p:txBody>
            </p:sp>
            <p:sp>
              <p:nvSpPr>
                <p:cNvPr id="33" name="Полилиния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ru-RU" sz="1800" noProof="0" dirty="0"/>
                </a:p>
              </p:txBody>
            </p:sp>
          </p:grpSp>
        </p:grpSp>
      </p:grp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  <a:endParaRPr kumimoji="0" lang="ru-RU" noProof="0" dirty="0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ru-RU" noProof="0" dirty="0"/>
              <a:t>Образец текста</a:t>
            </a:r>
          </a:p>
          <a:p>
            <a:pPr lvl="1" rtl="0" eaLnBrk="1" latinLnBrk="0" hangingPunct="1"/>
            <a:r>
              <a:rPr lang="ru-RU" noProof="0" dirty="0"/>
              <a:t>Второй уровень</a:t>
            </a:r>
          </a:p>
          <a:p>
            <a:pPr lvl="2" rtl="0" eaLnBrk="1" latinLnBrk="0" hangingPunct="1"/>
            <a:r>
              <a:rPr lang="ru-RU" noProof="0" dirty="0"/>
              <a:t>Третий уровень</a:t>
            </a:r>
          </a:p>
          <a:p>
            <a:pPr lvl="3" rtl="0" eaLnBrk="1" latinLnBrk="0" hangingPunct="1"/>
            <a:r>
              <a:rPr lang="ru-RU" noProof="0" dirty="0"/>
              <a:t>Четвертый уровень</a:t>
            </a:r>
          </a:p>
          <a:p>
            <a:pPr lvl="4" rtl="0" eaLnBrk="1" latinLnBrk="0" hangingPunct="1"/>
            <a:r>
              <a:rPr lang="ru-RU" noProof="0" dirty="0"/>
              <a:t>Пятый уровень</a:t>
            </a:r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fld id="{E2826595-62FB-4CCD-B121-F144066977C5}" type="datetime1">
              <a:rPr lang="ru-RU" noProof="0" smtClean="0"/>
              <a:t>02.05.2026</a:t>
            </a:fld>
            <a:endParaRPr lang="ru-RU" noProof="0" dirty="0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Добавить нижний колонтитул</a:t>
            </a: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fld id="{401CF334-2D5C-4859-84A6-CA7E6E43FAEB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-678936" y="605481"/>
            <a:ext cx="10468864" cy="1828800"/>
          </a:xfrm>
        </p:spPr>
        <p:txBody>
          <a:bodyPr rtlCol="0"/>
          <a:lstStyle/>
          <a:p>
            <a:pPr algn="ctr" rtl="0"/>
            <a:r>
              <a:rPr lang="en-US" dirty="0">
                <a:solidFill>
                  <a:schemeClr val="accent1"/>
                </a:solidFill>
              </a:rPr>
              <a:t>FinanceGuru.ru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861568" y="4384119"/>
            <a:ext cx="10468863" cy="1752600"/>
          </a:xfrm>
        </p:spPr>
        <p:txBody>
          <a:bodyPr rtlCol="0"/>
          <a:lstStyle/>
          <a:p>
            <a:pPr rtl="0"/>
            <a:r>
              <a:rPr lang="ru-RU" dirty="0"/>
              <a:t>Подготовили:</a:t>
            </a:r>
          </a:p>
          <a:p>
            <a:pPr rtl="0"/>
            <a:r>
              <a:rPr lang="ru-RU" dirty="0"/>
              <a:t>Дмитрий </a:t>
            </a:r>
            <a:r>
              <a:rPr lang="ru-RU" dirty="0" err="1"/>
              <a:t>Вервейко</a:t>
            </a:r>
            <a:br>
              <a:rPr lang="ru-RU" dirty="0"/>
            </a:br>
            <a:r>
              <a:rPr lang="ru-RU" dirty="0"/>
              <a:t>Шишкин Андрей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B447D-A727-172B-4206-E6BA2117BFBC}"/>
              </a:ext>
            </a:extLst>
          </p:cNvPr>
          <p:cNvSpPr txBox="1"/>
          <p:nvPr/>
        </p:nvSpPr>
        <p:spPr>
          <a:xfrm>
            <a:off x="1865960" y="2688449"/>
            <a:ext cx="7524577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/>
              <a:t>Финансовый портал в стиле 2007</a:t>
            </a:r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09600" y="484882"/>
            <a:ext cx="10972800" cy="1143000"/>
          </a:xfrm>
        </p:spPr>
        <p:txBody>
          <a:bodyPr rtlCol="0"/>
          <a:lstStyle/>
          <a:p>
            <a:pPr rtl="0"/>
            <a:r>
              <a:rPr lang="ru-RU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Что это за проект</a:t>
            </a:r>
            <a:r>
              <a:rPr lang="en-US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?</a:t>
            </a:r>
            <a:endParaRPr lang="ru-RU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ru-RU" dirty="0"/>
              <a:t>📌 FinanceGuru.ru - это финансовый сайт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🎯 Стиль: "Русский интернет 2007 года"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🤖 Главная фишка: умный бот-советник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💡 Идея: ностальгия + ИИ внутри</a:t>
            </a:r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-104384" y="616406"/>
            <a:ext cx="10972800" cy="1143000"/>
          </a:xfrm>
        </p:spPr>
        <p:txBody>
          <a:bodyPr rtlCol="0">
            <a:normAutofit/>
          </a:bodyPr>
          <a:lstStyle/>
          <a:p>
            <a:pPr rtl="0"/>
            <a:r>
              <a:rPr lang="ru-RU" dirty="0">
                <a:solidFill>
                  <a:srgbClr val="C00000"/>
                </a:solidFill>
                <a:latin typeface="+mn-lt"/>
              </a:rPr>
              <a:t>     Что делает Бот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?</a:t>
            </a:r>
            <a:endParaRPr lang="ru-RU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741378" y="1810490"/>
            <a:ext cx="8327721" cy="723169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ru-RU" sz="2800" dirty="0"/>
              <a:t>Это </a:t>
            </a:r>
            <a:r>
              <a:rPr lang="en-US" sz="2800" dirty="0"/>
              <a:t>AI</a:t>
            </a:r>
            <a:r>
              <a:rPr lang="ru-RU" sz="2800" dirty="0"/>
              <a:t>-чат, который даёт советы по деньгам</a:t>
            </a:r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7972084B-3AE9-B515-1C1A-6BA877D3023D}"/>
              </a:ext>
            </a:extLst>
          </p:cNvPr>
          <p:cNvSpPr txBox="1">
            <a:spLocks/>
          </p:cNvSpPr>
          <p:nvPr/>
        </p:nvSpPr>
        <p:spPr>
          <a:xfrm>
            <a:off x="858765" y="2550537"/>
            <a:ext cx="6936269" cy="3691057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ru-RU" sz="2800" dirty="0"/>
              <a:t>⚙️ </a:t>
            </a:r>
            <a:r>
              <a:rPr lang="ru-RU" sz="2800" dirty="0">
                <a:solidFill>
                  <a:srgbClr val="C00000"/>
                </a:solidFill>
              </a:rPr>
              <a:t>КАК РАБОТАЕТ:</a:t>
            </a:r>
          </a:p>
          <a:p>
            <a:pPr marL="0" indent="0">
              <a:buFont typeface="Wingdings 2"/>
              <a:buNone/>
            </a:pPr>
            <a:endParaRPr lang="ru-RU" sz="1800" dirty="0"/>
          </a:p>
          <a:p>
            <a:pPr marL="0" indent="0">
              <a:buFont typeface="Wingdings 2"/>
              <a:buNone/>
            </a:pPr>
            <a:r>
              <a:rPr lang="ru-RU" sz="2400" dirty="0"/>
              <a:t>    1️⃣ Пользователь пишет вопрос</a:t>
            </a:r>
          </a:p>
          <a:p>
            <a:pPr marL="0" indent="0">
              <a:buFont typeface="Wingdings 2"/>
              <a:buNone/>
            </a:pPr>
            <a:r>
              <a:rPr lang="ru-RU" sz="2400" dirty="0"/>
              <a:t>    2️⃣ Сервер получает сообщение</a:t>
            </a:r>
          </a:p>
          <a:p>
            <a:pPr marL="0" indent="0">
              <a:buFont typeface="Wingdings 2"/>
              <a:buNone/>
            </a:pPr>
            <a:r>
              <a:rPr lang="ru-RU" sz="2400" dirty="0"/>
              <a:t>    3️⃣ Добавляет "личность" бота</a:t>
            </a:r>
          </a:p>
          <a:p>
            <a:pPr marL="0" indent="0">
              <a:buFont typeface="Wingdings 2"/>
              <a:buNone/>
            </a:pPr>
            <a:r>
              <a:rPr lang="ru-RU" sz="2400" dirty="0"/>
              <a:t>    4️⃣ Отправляет в </a:t>
            </a:r>
            <a:r>
              <a:rPr lang="ru-RU" sz="2400" dirty="0" err="1"/>
              <a:t>OpenRouter</a:t>
            </a:r>
            <a:r>
              <a:rPr lang="ru-RU" sz="2400" dirty="0"/>
              <a:t> (GPT-4)</a:t>
            </a:r>
          </a:p>
          <a:p>
            <a:pPr marL="0" indent="0">
              <a:buFont typeface="Wingdings 2"/>
              <a:buNone/>
            </a:pPr>
            <a:r>
              <a:rPr lang="ru-RU" sz="2400" dirty="0"/>
              <a:t>    5️⃣ ИИ генерирует ответ</a:t>
            </a:r>
          </a:p>
          <a:p>
            <a:pPr marL="0" indent="0">
              <a:buFont typeface="Wingdings 2"/>
              <a:buNone/>
            </a:pPr>
            <a:r>
              <a:rPr lang="ru-RU" sz="2400" dirty="0"/>
              <a:t>    6️⃣ Ответ приходит пользователю</a:t>
            </a:r>
          </a:p>
          <a:p>
            <a:pPr marL="0" indent="0">
              <a:buFont typeface="Wingdings 2"/>
              <a:buNone/>
            </a:pPr>
            <a:r>
              <a:rPr lang="ru-RU" sz="2400" dirty="0"/>
              <a:t>    ⏱️ Всё происходит за 1-3 секунды</a:t>
            </a:r>
          </a:p>
        </p:txBody>
      </p:sp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09600" y="523798"/>
            <a:ext cx="10972800" cy="1152765"/>
          </a:xfrm>
        </p:spPr>
        <p:txBody>
          <a:bodyPr rtlCol="0"/>
          <a:lstStyle/>
          <a:p>
            <a:pPr rtl="0"/>
            <a:r>
              <a:rPr lang="ru-RU" dirty="0">
                <a:solidFill>
                  <a:srgbClr val="C00000"/>
                </a:solidFill>
                <a:latin typeface="+mn-lt"/>
              </a:rPr>
              <a:t>Работа с валютами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0" y="2053766"/>
            <a:ext cx="6003324" cy="3358409"/>
          </a:xfrm>
        </p:spPr>
        <p:txBody>
          <a:bodyPr rtlCol="0"/>
          <a:lstStyle/>
          <a:p>
            <a:pPr marL="0" indent="0" rtl="0">
              <a:buNone/>
            </a:pPr>
            <a:r>
              <a:rPr lang="ru-RU" dirty="0"/>
              <a:t>📊 ОТКУДА БЕРУТСЯ КУРСЫ:</a:t>
            </a:r>
          </a:p>
          <a:p>
            <a:pPr rtl="0"/>
            <a:endParaRPr lang="ru-RU" dirty="0"/>
          </a:p>
          <a:p>
            <a:pPr marL="0" indent="0" rtl="0">
              <a:buNone/>
            </a:pPr>
            <a:r>
              <a:rPr lang="ru-RU" dirty="0"/>
              <a:t>🔹 </a:t>
            </a:r>
            <a:r>
              <a:rPr lang="en-US" dirty="0" err="1"/>
              <a:t>ExchangeRate</a:t>
            </a:r>
            <a:r>
              <a:rPr lang="en-US" dirty="0"/>
              <a:t> API (</a:t>
            </a:r>
            <a:r>
              <a:rPr lang="ru-RU" dirty="0"/>
              <a:t>основной)</a:t>
            </a:r>
          </a:p>
          <a:p>
            <a:pPr rtl="0"/>
            <a:endParaRPr lang="ru-RU" dirty="0"/>
          </a:p>
          <a:p>
            <a:pPr marL="0" indent="0" rtl="0">
              <a:buNone/>
            </a:pPr>
            <a:r>
              <a:rPr lang="ru-RU" dirty="0"/>
              <a:t>🔹 </a:t>
            </a:r>
            <a:r>
              <a:rPr lang="en-US" dirty="0"/>
              <a:t>Currency API (</a:t>
            </a:r>
            <a:r>
              <a:rPr lang="ru-RU" dirty="0"/>
              <a:t>резервный)</a:t>
            </a:r>
          </a:p>
          <a:p>
            <a:pPr rtl="0"/>
            <a:endParaRPr lang="ru-RU" dirty="0"/>
          </a:p>
          <a:p>
            <a:pPr marL="0" indent="0" rtl="0">
              <a:buNone/>
            </a:pPr>
            <a:r>
              <a:rPr lang="ru-RU" dirty="0"/>
              <a:t>🕐 Обновление: каждые 10 минут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02208-7BDD-A161-A975-FF551B5DFB96}"/>
              </a:ext>
            </a:extLst>
          </p:cNvPr>
          <p:cNvSpPr txBox="1"/>
          <p:nvPr/>
        </p:nvSpPr>
        <p:spPr>
          <a:xfrm>
            <a:off x="8386712" y="2863713"/>
            <a:ext cx="3619936" cy="267765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indent="0" rtl="0">
              <a:buNone/>
            </a:pPr>
            <a:r>
              <a:rPr lang="ru-RU" sz="2400" dirty="0"/>
              <a:t>🇨🇳 </a:t>
            </a:r>
            <a:r>
              <a:rPr lang="en-US" sz="2400" dirty="0"/>
              <a:t>CNY - </a:t>
            </a:r>
            <a:r>
              <a:rPr lang="ru-RU" sz="2400" dirty="0"/>
              <a:t>Юань</a:t>
            </a:r>
          </a:p>
          <a:p>
            <a:pPr marL="0" indent="0" rtl="0">
              <a:buNone/>
            </a:pPr>
            <a:endParaRPr lang="ru-RU" sz="2400" dirty="0"/>
          </a:p>
          <a:p>
            <a:pPr marL="0" indent="0" rtl="0">
              <a:buNone/>
            </a:pPr>
            <a:r>
              <a:rPr lang="ru-RU" sz="2400" dirty="0"/>
              <a:t>🇧🇾 </a:t>
            </a:r>
            <a:r>
              <a:rPr lang="en-US" sz="2400" dirty="0"/>
              <a:t>BYN - </a:t>
            </a:r>
            <a:r>
              <a:rPr lang="ru-RU" sz="2400" dirty="0" err="1"/>
              <a:t>Бел.рубль</a:t>
            </a:r>
            <a:endParaRPr lang="ru-RU" sz="2400" dirty="0"/>
          </a:p>
          <a:p>
            <a:pPr marL="0" indent="0" rtl="0">
              <a:buNone/>
            </a:pPr>
            <a:endParaRPr lang="ru-RU" sz="2400" dirty="0"/>
          </a:p>
          <a:p>
            <a:pPr marL="0" indent="0" rtl="0">
              <a:buNone/>
            </a:pPr>
            <a:r>
              <a:rPr lang="ru-RU" sz="2400" dirty="0"/>
              <a:t>🇺🇦 </a:t>
            </a:r>
            <a:r>
              <a:rPr lang="en-US" sz="2400" dirty="0"/>
              <a:t>UAH - </a:t>
            </a:r>
            <a:r>
              <a:rPr lang="ru-RU" sz="2400" dirty="0"/>
              <a:t>Гривна</a:t>
            </a:r>
          </a:p>
          <a:p>
            <a:pPr marL="0" indent="0" rtl="0">
              <a:buNone/>
            </a:pPr>
            <a:endParaRPr lang="ru-RU" sz="2400" dirty="0"/>
          </a:p>
          <a:p>
            <a:pPr marL="0" indent="0" rtl="0">
              <a:buNone/>
            </a:pPr>
            <a:r>
              <a:rPr lang="ru-RU" sz="2400" dirty="0"/>
              <a:t>🇰🇿 </a:t>
            </a:r>
            <a:r>
              <a:rPr lang="en-US" sz="2400" dirty="0"/>
              <a:t>KZT - </a:t>
            </a:r>
            <a:r>
              <a:rPr lang="ru-RU" sz="2400" dirty="0"/>
              <a:t>Тенге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935A1-8B75-13CD-36F7-3F5A822350AB}"/>
              </a:ext>
            </a:extLst>
          </p:cNvPr>
          <p:cNvSpPr txBox="1"/>
          <p:nvPr/>
        </p:nvSpPr>
        <p:spPr>
          <a:xfrm>
            <a:off x="5652595" y="2053766"/>
            <a:ext cx="6003324" cy="34778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/>
              <a:t>💱 </a:t>
            </a:r>
            <a:r>
              <a:rPr lang="ru-RU" sz="2600" dirty="0"/>
              <a:t>КАКИЕ ВАЛЮТЫ ДОСТУПНЫ:</a:t>
            </a:r>
          </a:p>
          <a:p>
            <a:endParaRPr lang="ru-RU" sz="2600" dirty="0"/>
          </a:p>
          <a:p>
            <a:r>
              <a:rPr lang="ru-RU" sz="2400" dirty="0"/>
              <a:t>🇺🇸 </a:t>
            </a:r>
            <a:r>
              <a:rPr lang="en-US" sz="2400" dirty="0"/>
              <a:t>USD - </a:t>
            </a:r>
            <a:r>
              <a:rPr lang="ru-RU" sz="2400" dirty="0"/>
              <a:t>Доллар</a:t>
            </a:r>
          </a:p>
          <a:p>
            <a:endParaRPr lang="ru-RU" sz="2400" dirty="0"/>
          </a:p>
          <a:p>
            <a:r>
              <a:rPr lang="ru-RU" sz="2400" dirty="0"/>
              <a:t>🇬🇧 </a:t>
            </a:r>
            <a:r>
              <a:rPr lang="en-US" sz="2400" dirty="0"/>
              <a:t>GBP - </a:t>
            </a:r>
            <a:r>
              <a:rPr lang="ru-RU" sz="2400" dirty="0"/>
              <a:t>Фунт</a:t>
            </a:r>
          </a:p>
          <a:p>
            <a:endParaRPr lang="ru-RU" sz="2400" dirty="0"/>
          </a:p>
          <a:p>
            <a:r>
              <a:rPr lang="ru-RU" sz="2400" dirty="0"/>
              <a:t>🇪🇺 </a:t>
            </a:r>
            <a:r>
              <a:rPr lang="en-US" sz="2400" dirty="0"/>
              <a:t>EUR - </a:t>
            </a:r>
            <a:r>
              <a:rPr lang="ru-RU" sz="2400" dirty="0"/>
              <a:t>Евро</a:t>
            </a:r>
          </a:p>
          <a:p>
            <a:endParaRPr lang="ru-RU" sz="2400" dirty="0"/>
          </a:p>
          <a:p>
            <a:r>
              <a:rPr lang="ru-RU" sz="2400" dirty="0"/>
              <a:t>🇯🇵 </a:t>
            </a:r>
            <a:r>
              <a:rPr lang="en-US" sz="2400" dirty="0"/>
              <a:t>JPY - </a:t>
            </a:r>
            <a:r>
              <a:rPr lang="ru-RU" sz="2400" dirty="0"/>
              <a:t>Йена</a:t>
            </a:r>
          </a:p>
        </p:txBody>
      </p:sp>
    </p:spTree>
    <p:extLst>
      <p:ext uri="{BB962C8B-B14F-4D97-AF65-F5344CB8AC3E}">
        <p14:creationId xmlns:p14="http://schemas.microsoft.com/office/powerpoint/2010/main" val="11508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65342" y="672773"/>
            <a:ext cx="10972800" cy="1143000"/>
          </a:xfrm>
        </p:spPr>
        <p:txBody>
          <a:bodyPr rtlCol="0"/>
          <a:lstStyle/>
          <a:p>
            <a:pPr rtl="0"/>
            <a:r>
              <a:rPr lang="ru-RU" dirty="0">
                <a:solidFill>
                  <a:srgbClr val="C00000"/>
                </a:solidFill>
                <a:latin typeface="+mn-lt"/>
              </a:rPr>
              <a:t>Калькулятор банковского вклада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65342" y="1945719"/>
            <a:ext cx="8296405" cy="2680361"/>
          </a:xfrm>
        </p:spPr>
        <p:txBody>
          <a:bodyPr rtlCol="0"/>
          <a:lstStyle/>
          <a:p>
            <a:pPr marL="0" indent="0" rtl="0">
              <a:buNone/>
            </a:pPr>
            <a:r>
              <a:rPr lang="ru-RU" dirty="0"/>
              <a:t>Считает, сколько денег вы заработаете на банковском вкладе!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3A138D-7BA7-EE26-F786-E30C95AF63EC}"/>
              </a:ext>
            </a:extLst>
          </p:cNvPr>
          <p:cNvSpPr txBox="1"/>
          <p:nvPr/>
        </p:nvSpPr>
        <p:spPr>
          <a:xfrm>
            <a:off x="365342" y="3047866"/>
            <a:ext cx="6109570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/>
              <a:t>📊 ВВОД ДАННЫХ:</a:t>
            </a:r>
          </a:p>
          <a:p>
            <a:endParaRPr lang="ru-RU" sz="2400" dirty="0"/>
          </a:p>
          <a:p>
            <a:r>
              <a:rPr lang="ru-RU" sz="2400" dirty="0"/>
              <a:t>1️⃣ Сумма вклада (₽)</a:t>
            </a:r>
          </a:p>
          <a:p>
            <a:endParaRPr lang="ru-RU" sz="2400" dirty="0"/>
          </a:p>
          <a:p>
            <a:r>
              <a:rPr lang="ru-RU" sz="2400" dirty="0"/>
              <a:t>2️⃣ Процентная ставка (%)</a:t>
            </a:r>
          </a:p>
          <a:p>
            <a:endParaRPr lang="ru-RU" sz="2400" dirty="0"/>
          </a:p>
          <a:p>
            <a:r>
              <a:rPr lang="ru-RU" sz="2400" dirty="0"/>
              <a:t>3️⃣ Срок (месяцы)</a:t>
            </a:r>
          </a:p>
          <a:p>
            <a:endParaRPr lang="ru-RU" sz="2400" dirty="0"/>
          </a:p>
          <a:p>
            <a:r>
              <a:rPr lang="ru-RU" sz="2400" dirty="0"/>
              <a:t>4️⃣ Капитализация (да/нет)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A412C-159D-AFCF-9853-611A49FC0DC6}"/>
              </a:ext>
            </a:extLst>
          </p:cNvPr>
          <p:cNvSpPr txBox="1"/>
          <p:nvPr/>
        </p:nvSpPr>
        <p:spPr>
          <a:xfrm>
            <a:off x="5606962" y="5570559"/>
            <a:ext cx="6109570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🎯 Можно сравнить разные банки и выбрать лучший вклад!</a:t>
            </a:r>
          </a:p>
        </p:txBody>
      </p:sp>
    </p:spTree>
    <p:extLst>
      <p:ext uri="{BB962C8B-B14F-4D97-AF65-F5344CB8AC3E}">
        <p14:creationId xmlns:p14="http://schemas.microsoft.com/office/powerpoint/2010/main" val="32520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09600" y="265422"/>
            <a:ext cx="10972800" cy="1143000"/>
          </a:xfrm>
        </p:spPr>
        <p:txBody>
          <a:bodyPr rtlCol="0">
            <a:normAutofit/>
          </a:bodyPr>
          <a:lstStyle/>
          <a:p>
            <a:pPr algn="ctr" rtl="0"/>
            <a:r>
              <a:rPr lang="ru-RU" sz="5400" dirty="0">
                <a:solidFill>
                  <a:srgbClr val="C00000"/>
                </a:solidFill>
                <a:latin typeface="+mn-lt"/>
              </a:rPr>
              <a:t>Технические особенности 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488344" y="1447166"/>
            <a:ext cx="6117622" cy="2031778"/>
          </a:xfrm>
        </p:spPr>
        <p:txBody>
          <a:bodyPr rtlCol="0">
            <a:normAutofit fontScale="92500"/>
          </a:bodyPr>
          <a:lstStyle/>
          <a:p>
            <a:pPr marL="0" indent="0" rtl="0">
              <a:buNone/>
            </a:pPr>
            <a:r>
              <a:rPr lang="ru-RU" dirty="0"/>
              <a:t>🔁 ДВА ИСТОЧНИКА КУРСОВ:</a:t>
            </a:r>
          </a:p>
          <a:p>
            <a:pPr marL="0" indent="0" rtl="0">
              <a:buNone/>
            </a:pPr>
            <a:endParaRPr lang="ru-RU" dirty="0"/>
          </a:p>
          <a:p>
            <a:pPr marL="0" indent="0" rtl="0">
              <a:buNone/>
            </a:pPr>
            <a:r>
              <a:rPr lang="ru-RU" dirty="0"/>
              <a:t>Если основной API недоступен, автоматически подключается резервный!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C340F-4B55-511F-4454-299DD44CCDFC}"/>
              </a:ext>
            </a:extLst>
          </p:cNvPr>
          <p:cNvSpPr txBox="1"/>
          <p:nvPr/>
        </p:nvSpPr>
        <p:spPr>
          <a:xfrm>
            <a:off x="6431690" y="3299756"/>
            <a:ext cx="6110416" cy="3416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dirty="0"/>
              <a:t>🎲 ПСЕВДО-СЧЁТЧИКИ:</a:t>
            </a:r>
          </a:p>
          <a:p>
            <a:endParaRPr lang="ru-RU" sz="2400" dirty="0"/>
          </a:p>
          <a:p>
            <a:r>
              <a:rPr lang="ru-RU" sz="2400" dirty="0"/>
              <a:t>🔹 Онлайн меняется каждые 18 секунд</a:t>
            </a:r>
          </a:p>
          <a:p>
            <a:endParaRPr lang="ru-RU" sz="2400" dirty="0"/>
          </a:p>
          <a:p>
            <a:r>
              <a:rPr lang="ru-RU" sz="2400" dirty="0"/>
              <a:t>🔹 создаёт эффект "живого" сайта</a:t>
            </a:r>
          </a:p>
          <a:p>
            <a:endParaRPr lang="ru-RU" sz="2400" dirty="0"/>
          </a:p>
          <a:p>
            <a:r>
              <a:rPr lang="ru-RU" sz="2400" dirty="0"/>
              <a:t>🔹 Было: 23 чел. Онлайн</a:t>
            </a:r>
          </a:p>
          <a:p>
            <a:endParaRPr lang="ru-RU" sz="2400" dirty="0"/>
          </a:p>
          <a:p>
            <a:r>
              <a:rPr lang="ru-RU" sz="2400" dirty="0"/>
              <a:t>🔹 Стало: 31 чел. онлайн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8834D4-9AF6-3ED0-4095-54F96C8DEEAC}"/>
              </a:ext>
            </a:extLst>
          </p:cNvPr>
          <p:cNvSpPr txBox="1"/>
          <p:nvPr/>
        </p:nvSpPr>
        <p:spPr>
          <a:xfrm>
            <a:off x="309433" y="3299756"/>
            <a:ext cx="6246340" cy="26776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dirty="0"/>
              <a:t>🧠 КЭШИРОВАНИЕ:</a:t>
            </a:r>
          </a:p>
          <a:p>
            <a:endParaRPr lang="ru-RU" sz="2400" dirty="0"/>
          </a:p>
          <a:p>
            <a:r>
              <a:rPr lang="ru-RU" sz="2400" dirty="0"/>
              <a:t>🔹 Курсы сохраняются на 10 минут</a:t>
            </a:r>
          </a:p>
          <a:p>
            <a:endParaRPr lang="ru-RU" sz="2400" dirty="0"/>
          </a:p>
          <a:p>
            <a:r>
              <a:rPr lang="ru-RU" sz="2400" dirty="0"/>
              <a:t>🔹 меньше запросов к API</a:t>
            </a:r>
          </a:p>
          <a:p>
            <a:endParaRPr lang="ru-RU" sz="2400" dirty="0"/>
          </a:p>
          <a:p>
            <a:r>
              <a:rPr lang="ru-RU" sz="2400" dirty="0"/>
              <a:t>🔹 быстрее загрузка сайта</a:t>
            </a:r>
          </a:p>
        </p:txBody>
      </p:sp>
    </p:spTree>
    <p:extLst>
      <p:ext uri="{BB962C8B-B14F-4D97-AF65-F5344CB8AC3E}">
        <p14:creationId xmlns:p14="http://schemas.microsoft.com/office/powerpoint/2010/main" val="14194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20289-C2D8-429B-87B8-158D444C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E6BE1D-2079-4DF4-AE57-DB4E8D142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D6C3F7-AC49-4EC0-B764-EB887802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411"/>
            <a:ext cx="7297093" cy="132440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2D94D8-6E8D-42F5-8E3A-31E4AED97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62089"/>
            <a:ext cx="4234004" cy="289355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6A87B62-910A-4945-91F1-800C4992B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525" y="2308680"/>
            <a:ext cx="62388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2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>
                <a:solidFill>
                  <a:srgbClr val="C00000"/>
                </a:solidFill>
                <a:latin typeface="+mn-lt"/>
              </a:rPr>
              <a:t>Планы по улучшению 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609600" y="2386502"/>
            <a:ext cx="10972800" cy="4389120"/>
          </a:xfrm>
        </p:spPr>
        <p:txBody>
          <a:bodyPr rtlCol="0">
            <a:normAutofit/>
          </a:bodyPr>
          <a:lstStyle/>
          <a:p>
            <a:r>
              <a:rPr lang="ru-RU" sz="3000" dirty="0"/>
              <a:t>Голосовой ввод</a:t>
            </a:r>
          </a:p>
          <a:p>
            <a:r>
              <a:rPr lang="ru-RU" sz="3000" dirty="0"/>
              <a:t>Графики</a:t>
            </a:r>
          </a:p>
          <a:p>
            <a:r>
              <a:rPr lang="ru-RU" sz="3000" dirty="0"/>
              <a:t>Криптовалюты</a:t>
            </a:r>
          </a:p>
          <a:p>
            <a:r>
              <a:rPr lang="ru-RU" sz="3000" dirty="0"/>
              <a:t>Кредитный калькулятор</a:t>
            </a:r>
          </a:p>
          <a:p>
            <a:r>
              <a:rPr lang="ru-RU" sz="3000" dirty="0"/>
              <a:t>Восстановление пароля</a:t>
            </a:r>
          </a:p>
        </p:txBody>
      </p:sp>
    </p:spTree>
    <p:extLst>
      <p:ext uri="{BB962C8B-B14F-4D97-AF65-F5344CB8AC3E}">
        <p14:creationId xmlns:p14="http://schemas.microsoft.com/office/powerpoint/2010/main" val="11260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24249" y="446903"/>
            <a:ext cx="10972800" cy="1143000"/>
          </a:xfrm>
        </p:spPr>
        <p:txBody>
          <a:bodyPr rtlCol="0"/>
          <a:lstStyle/>
          <a:p>
            <a:pPr rtl="0"/>
            <a:r>
              <a:rPr lang="ru-RU" dirty="0">
                <a:solidFill>
                  <a:srgbClr val="C00000"/>
                </a:solidFill>
                <a:latin typeface="+mn-lt"/>
              </a:rPr>
              <a:t>Итоги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24249" y="2021977"/>
            <a:ext cx="6347254" cy="4389120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ru-RU" dirty="0"/>
              <a:t>✅ РАБОТАЕТ ВСЁ: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🤖 Умный бот-советник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💰 Курсы валют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💱 Конвертер (9 валют)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🧮 Калькулятор вклада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📝 Пользовательские статьи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🔐 Вход и регистрация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FF675-7D41-A335-1C6A-561B3CBCAA32}"/>
              </a:ext>
            </a:extLst>
          </p:cNvPr>
          <p:cNvSpPr txBox="1"/>
          <p:nvPr/>
        </p:nvSpPr>
        <p:spPr>
          <a:xfrm>
            <a:off x="4780007" y="1947836"/>
            <a:ext cx="7411993" cy="17851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sz="2200" dirty="0"/>
              <a:t>🎯 УНИКАЛЬНОСТЬ ПРОЕКТА:</a:t>
            </a:r>
          </a:p>
          <a:p>
            <a:endParaRPr lang="ru-RU" sz="2200" dirty="0"/>
          </a:p>
          <a:p>
            <a:r>
              <a:rPr lang="ru-RU" sz="2200" dirty="0"/>
              <a:t>"Ретро-дизайн 2007 года + современные AI-технологии"</a:t>
            </a:r>
          </a:p>
          <a:p>
            <a:endParaRPr lang="ru-RU" sz="2200" dirty="0"/>
          </a:p>
          <a:p>
            <a:r>
              <a:rPr lang="ru-RU" sz="2200" dirty="0"/>
              <a:t>➕ Использованы все изученные 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205488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резентация мозгового штурма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845_TF03460637.potx" id="{F42726C0-6660-44EB-84CB-9AAEF4C07D5F}" vid="{C5E20908-8830-4429-B2D1-54A91E0450D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Деловая презентация для мозгового штурма</Template>
  <TotalTime>78</TotalTime>
  <Words>351</Words>
  <Application>Microsoft Office PowerPoint</Application>
  <PresentationFormat>Широкоэкранный</PresentationFormat>
  <Paragraphs>112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</vt:lpstr>
      <vt:lpstr>Century Gothic</vt:lpstr>
      <vt:lpstr>Palatino Linotype</vt:lpstr>
      <vt:lpstr>Wingdings 2</vt:lpstr>
      <vt:lpstr>Презентация мозгового штурма</vt:lpstr>
      <vt:lpstr>FinanceGuru.ru</vt:lpstr>
      <vt:lpstr>Что это за проект?</vt:lpstr>
      <vt:lpstr>     Что делает Бот?</vt:lpstr>
      <vt:lpstr>Работа с валютами</vt:lpstr>
      <vt:lpstr>Калькулятор банковского вклада</vt:lpstr>
      <vt:lpstr>Технические особенности </vt:lpstr>
      <vt:lpstr>Презентация PowerPoint</vt:lpstr>
      <vt:lpstr>Планы по улучшению 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FinanceGuru.ru</dc:title>
  <dc:creator>юджин юджин</dc:creator>
  <cp:lastModifiedBy>Вервейко Дмитрий</cp:lastModifiedBy>
  <cp:revision>7</cp:revision>
  <dcterms:created xsi:type="dcterms:W3CDTF">2026-04-29T17:18:08Z</dcterms:created>
  <dcterms:modified xsi:type="dcterms:W3CDTF">2026-05-02T09:45:54Z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